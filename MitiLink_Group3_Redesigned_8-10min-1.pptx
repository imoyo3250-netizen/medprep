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4206240" cy="58521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983480" y="731520"/>
            <a:ext cx="6583680" cy="5257800"/>
          </a:xfrm>
          <a:prstGeom prst="round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49240" y="1143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691E"/>
                </a:solidFill>
                <a:latin typeface="Aptos"/>
              </a:rPr>
              <a:t>OUR GROUP WAS TASKED WITH THE 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73736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21B17"/>
                </a:solidFill>
                <a:latin typeface="Aptos"/>
              </a:rPr>
              <a:t>Design a hypothetical
heritage-based health enterprise.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9718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4C5751"/>
                </a:solidFill>
                <a:latin typeface="Aptos"/>
              </a:rPr>
              <a:t>What traditional knowledge would it draw on,
and what innovation would make it viable today?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4709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35338"/>
                </a:solidFill>
                <a:latin typeface="Aptos"/>
              </a:rPr>
              <a:t>GROUP 3'S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5074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35338"/>
                </a:solidFill>
                <a:latin typeface="Aptos"/>
              </a:rPr>
              <a:t>MITILINK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B735"/>
                </a:solidFill>
                <a:latin typeface="Aptos"/>
              </a:rPr>
              <a:t>THE INNOVATION OF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MITILINK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EF691E"/>
                </a:solidFill>
                <a:latin typeface="Aptos"/>
              </a:rPr>
              <a:t>IT'S ABOUT TO GET HOT!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5760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A digital bridge connecting Zimbabwean traditional health knowledge,
communities, practitioners and the diaspora.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5989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CREATED BY GROUP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03 •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B17"/>
                </a:solidFill>
                <a:latin typeface="Aptos"/>
              </a:rPr>
              <a:t>Welcome to MitiLink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35338"/>
                </a:solidFill>
                <a:latin typeface="Aptos"/>
              </a:rPr>
              <a:t>03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4754880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77840" y="1234440"/>
            <a:ext cx="59893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691E"/>
                </a:solidFill>
                <a:latin typeface="Aptos"/>
              </a:rPr>
              <a:t>ONE APP. FOUR CORE FUNCTIONS.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🌿 HERB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231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Search local/common names, heritage context and safety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986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👤 PRACTITIONER DIRECTORY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17296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Profiles of participating practitioners with verification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6484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🌍 DIASPORA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92277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Access Zimbabwean heritage and eligible services from abroad.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3982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📦 TRACEABLE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6725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Approved products can include source, batch and safety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04 •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B17"/>
                </a:solidFill>
                <a:latin typeface="Aptos"/>
              </a:rPr>
              <a:t>Why did we choose to create this service?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35338"/>
                </a:solidFill>
                <a:latin typeface="Aptos"/>
              </a:rPr>
              <a:t>04</a:t>
            </a:r>
          </a:p>
        </p:txBody>
      </p:sp>
      <p:pic>
        <p:nvPicPr>
          <p:cNvPr id="6" name="Picture 5" descr="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46634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40680" y="1234440"/>
            <a:ext cx="27432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3441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167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35338"/>
                </a:solidFill>
                <a:latin typeface="Aptos"/>
              </a:rPr>
              <a:t>UNCLEAR / INCONSISTENT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673352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4C5751"/>
                </a:solidFill>
                <a:latin typeface="Aptos"/>
              </a:rPr>
              <a:t>People may receive incomplete or conflicting information about preparation and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234440"/>
            <a:ext cx="27432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3441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3167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35338"/>
                </a:solidFill>
                <a:latin typeface="Aptos"/>
              </a:rPr>
              <a:t>KNOWLEDGE IS SCATTERED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673352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4C5751"/>
                </a:solidFill>
                <a:latin typeface="Aptos"/>
              </a:rPr>
              <a:t>Important knowledge can sit with families, communities, books or informal 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532888"/>
            <a:ext cx="27432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64261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1518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35338"/>
                </a:solidFill>
                <a:latin typeface="Aptos"/>
              </a:rPr>
              <a:t>ONLINE CLAIMS ARE HARD TO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9718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4C5751"/>
                </a:solidFill>
                <a:latin typeface="Aptos"/>
              </a:rPr>
              <a:t>Some herbal information online is exaggerated or unsupported.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532888"/>
            <a:ext cx="27432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64261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61518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35338"/>
                </a:solidFill>
                <a:latin typeface="Aptos"/>
              </a:rPr>
              <a:t>DIASPORA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9718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4C5751"/>
                </a:solidFill>
                <a:latin typeface="Aptos"/>
              </a:rPr>
              <a:t>Zimbabweans abroad can struggle to access trusted Zimbabwean heritage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3831335"/>
            <a:ext cx="27432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3941063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913631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35338"/>
                </a:solidFill>
                <a:latin typeface="Aptos"/>
              </a:rPr>
              <a:t>KNOWLEDGE PRESERVATION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2702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4C5751"/>
                </a:solidFill>
                <a:latin typeface="Aptos"/>
              </a:rPr>
              <a:t>Consent-based digital documentation can help keep cultural knowledge accessible.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831335"/>
            <a:ext cx="27432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941063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913631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35338"/>
                </a:solidFill>
                <a:latin typeface="Aptos"/>
              </a:rPr>
              <a:t>SUPPORT KNOWLEDGE 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2702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4C5751"/>
                </a:solidFill>
                <a:latin typeface="Aptos"/>
              </a:rPr>
              <a:t>Practitioners and elders can have a structured way to contribute and be recognised.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5129783"/>
            <a:ext cx="27432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52395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212079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35338"/>
                </a:solidFill>
                <a:latin typeface="Aptos"/>
              </a:rPr>
              <a:t>MODERN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568696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4C5751"/>
                </a:solidFill>
                <a:latin typeface="Aptos"/>
              </a:rPr>
              <a:t>Mobile, low-data and offline features can make information easier to 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05 • HERB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B17"/>
                </a:solidFill>
                <a:latin typeface="Aptos"/>
              </a:rPr>
              <a:t>Explore herbs with photos, videos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35338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5166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234440"/>
            <a:ext cx="507492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691E"/>
                </a:solidFill>
                <a:latin typeface="Aptos"/>
              </a:rPr>
              <a:t>HERB PROFILE = 4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HERITAGE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3055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Traditional name, story, preparation and community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0779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Reliable research where available; uncertainty is shown.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70332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6850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Warnings, interactions, contamination risks and red flags.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4805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4622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Contributor, consent status and verification trail.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39496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691E"/>
                </a:solidFill>
                <a:latin typeface="Aptos"/>
              </a:rPr>
              <a:t>Optional multimedia: plant photos + short educational videos.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06 • TRADITIONAL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B17"/>
                </a:solidFill>
                <a:latin typeface="Aptos"/>
              </a:rPr>
              <a:t>Where do we get the information?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35338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45720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40680" y="1234440"/>
            <a:ext cx="6126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645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5338"/>
                </a:solidFill>
                <a:latin typeface="Aptos"/>
              </a:rPr>
              <a:t>1 • KNOWLEDGE HOLDERS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95681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Traditional healers, elders and other contributors — with consent.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560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5338"/>
                </a:solidFill>
                <a:latin typeface="Aptos"/>
              </a:rPr>
              <a:t>2 • COMMUNITIES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871215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Local knowledge, plant names, preparation traditions and cultural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474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5338"/>
                </a:solidFill>
                <a:latin typeface="Aptos"/>
              </a:rPr>
              <a:t>3 • BOOKS +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785615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Academic, ethnobotanical and other reliable reference material.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89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5338"/>
                </a:solidFill>
                <a:latin typeface="Aptos"/>
              </a:rPr>
              <a:t>4 • TRUSTED DIGITAL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70001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WHO, universities and verified databases where appropriate.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52578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691E"/>
                </a:solidFill>
                <a:latin typeface="Aptos"/>
              </a:rPr>
              <a:t>HOW WE INCORPORATE TRADITIONAL MEDICINE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5596128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5751"/>
                </a:solidFill>
                <a:latin typeface="Aptos"/>
              </a:rPr>
              <a:t>We preserve the knowledge source and cultural context, then add modern structure: search, verification, evidence labels, safety information and responsible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07 •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B17"/>
                </a:solidFill>
                <a:latin typeface="Aptos"/>
              </a:rPr>
              <a:t>How MitiLink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35338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16916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556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5751"/>
                </a:solidFill>
                <a:latin typeface="Aptos"/>
              </a:rPr>
              <a:t>Search a herb, topic or practitioner.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517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7B735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508760"/>
            <a:ext cx="16916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7556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5751"/>
                </a:solidFill>
                <a:latin typeface="Aptos"/>
              </a:rPr>
              <a:t>See heritage, preparation traditions and safety.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6517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7B735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508760"/>
            <a:ext cx="16916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7556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5751"/>
                </a:solidFill>
                <a:latin typeface="Aptos"/>
              </a:rPr>
              <a:t>See evidence level, warnings and verification.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6517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7B735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508760"/>
            <a:ext cx="16916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1" y="17556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1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5751"/>
                </a:solidFill>
                <a:latin typeface="Aptos"/>
              </a:rPr>
              <a:t>Contact a verified knowledge holder.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6517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7B735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1508760"/>
            <a:ext cx="16916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1" y="17556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1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1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5751"/>
                </a:solidFill>
                <a:latin typeface="Aptos"/>
              </a:rPr>
              <a:t>Book or buy approved services/products where lawful.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26517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7B735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1508760"/>
            <a:ext cx="16916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17556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5338"/>
                </a:solidFill>
                <a:latin typeface="Aptos"/>
              </a:rPr>
              <a:t>FOLLOW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278892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5751"/>
                </a:solidFill>
                <a:latin typeface="Aptos"/>
              </a:rPr>
              <a:t>Red flags guide users toward clinical care.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691E"/>
                </a:solidFill>
                <a:latin typeface="Aptos"/>
              </a:rPr>
              <a:t>EDUCATION + CONNECTION — NOT DIAGNOSIS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no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89204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32120" y="1143000"/>
            <a:ext cx="60350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691E"/>
                </a:solidFill>
                <a:latin typeface="Aptos"/>
              </a:rPr>
              <a:t>WHAT MAKES MITILINK INNOVATIVE?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1031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B735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DIGITAL HERB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210312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C5751"/>
                </a:solidFill>
                <a:latin typeface="Aptos"/>
              </a:rPr>
              <a:t>Structured, searchable heritage knowledge.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71576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B735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27157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71576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C5751"/>
                </a:solidFill>
                <a:latin typeface="Aptos"/>
              </a:rPr>
              <a:t>Practitioner, contributor and source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328415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B735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32841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EVIDENCE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3328415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C5751"/>
                </a:solidFill>
                <a:latin typeface="Aptos"/>
              </a:rPr>
              <a:t>Traditional use is separated from scientific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94106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B735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39410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4106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C5751"/>
                </a:solidFill>
                <a:latin typeface="Aptos"/>
              </a:rPr>
              <a:t>Source/batch records for approved products.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4553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B735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45537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LOW-DATA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55371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C5751"/>
                </a:solidFill>
                <a:latin typeface="Aptos"/>
              </a:rPr>
              <a:t>Offline reading and compressed content.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51663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B735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166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5338"/>
                </a:solidFill>
                <a:latin typeface="Aptos"/>
              </a:rPr>
              <a:t>COMMUNITY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16636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4C5751"/>
                </a:solidFill>
                <a:latin typeface="Aptos"/>
              </a:rPr>
              <a:t>Users can flag unsafe claims or suspicious products.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09 •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B17"/>
                </a:solidFill>
                <a:latin typeface="Aptos"/>
              </a:rPr>
              <a:t>How can it become an enterprise?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35338"/>
                </a:solidFill>
                <a:latin typeface="Aptos"/>
              </a:rPr>
              <a:t>09</a:t>
            </a:r>
          </a:p>
        </p:txBody>
      </p:sp>
      <p:pic>
        <p:nvPicPr>
          <p:cNvPr id="6" name="Picture 5" descr="v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429768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66360" y="1417320"/>
            <a:ext cx="1965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0952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691E"/>
                </a:solidFill>
                <a:latin typeface="Aptos"/>
              </a:rP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2423160"/>
            <a:ext cx="16276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C5751"/>
                </a:solidFill>
                <a:latin typeface="Aptos"/>
              </a:rPr>
              <a:t>Zimbabwean users • diaspora • practitioners • researchers • ethical producers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417320"/>
            <a:ext cx="1965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6952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691E"/>
                </a:solidFill>
                <a:latin typeface="Aptos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2423160"/>
            <a:ext cx="16276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C5751"/>
                </a:solidFill>
                <a:latin typeface="Aptos"/>
              </a:rPr>
              <a:t>Freemium tools • booking fees • approved marketplace • partnerships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417320"/>
            <a:ext cx="1965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2952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691E"/>
                </a:solidFill>
                <a:latin typeface="Aptos"/>
              </a:rPr>
              <a:t>START 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2952" y="2423160"/>
            <a:ext cx="16276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C5751"/>
                </a:solidFill>
                <a:latin typeface="Aptos"/>
              </a:rPr>
              <a:t>One community/province network + curated library + verified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5440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5338"/>
                </a:solidFill>
                <a:latin typeface="Aptos"/>
              </a:rPr>
              <a:t>PROVE TRUST + USAGE → THEN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10 •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B17"/>
                </a:solidFill>
                <a:latin typeface="Aptos"/>
              </a:rPr>
              <a:t>Responsible traditional-health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35338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448056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49240" y="1234440"/>
            <a:ext cx="6172200" cy="4983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645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5338"/>
                </a:solidFill>
                <a:latin typeface="Aptos"/>
              </a:rPr>
              <a:t>NO UNSUPPORTED CURE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947672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4C5751"/>
                </a:solidFill>
                <a:latin typeface="Aptos"/>
              </a:rPr>
              <a:t>Health information is educational; clinical claims need evidence and regulation.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4871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5338"/>
                </a:solidFill>
                <a:latin typeface="Aptos"/>
              </a:rPr>
              <a:t>CLEAR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788920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4C5751"/>
                </a:solidFill>
                <a:latin typeface="Aptos"/>
              </a:rPr>
              <a:t>Interactions, contraindications and red flags are highlighted.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3284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5338"/>
                </a:solidFill>
                <a:latin typeface="Aptos"/>
              </a:rPr>
              <a:t>CULTURAL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630168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4C5751"/>
                </a:solidFill>
                <a:latin typeface="Aptos"/>
              </a:rPr>
              <a:t>Consent, attribution and benefit sharing are built into the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41696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5338"/>
                </a:solidFill>
                <a:latin typeface="Aptos"/>
              </a:rPr>
              <a:t>LEGAL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4471416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4C5751"/>
                </a:solidFill>
                <a:latin typeface="Aptos"/>
              </a:rPr>
              <a:t>Follow Zimbabwean and destination-country rules and protect user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5010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35338"/>
                </a:solidFill>
                <a:latin typeface="Aptos"/>
              </a:rPr>
              <a:t>PRODUCT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5312664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4C5751"/>
                </a:solidFill>
                <a:latin typeface="Aptos"/>
              </a:rPr>
              <a:t>Marketplace products require appropriate regulatory checks.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5715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691E"/>
                </a:solidFill>
                <a:latin typeface="Aptos"/>
              </a:rPr>
              <a:t>TRUST IS THE REAL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B735"/>
                </a:solidFill>
                <a:latin typeface="Aptos"/>
              </a:rPr>
              <a:t>THE FINAL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“What if Zimbabwe’s traditional
health knowledge could travel
with its people?”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Preserve the heritage. Improve access. Label uncertainty. Protect people. Respect knowledge ownership.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7B735"/>
                </a:solidFill>
                <a:latin typeface="Aptos"/>
              </a:rPr>
              <a:t>MITILINK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3036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TRADITIONAL ROOTS • DIGITAL REACH • GROUP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691E"/>
                </a:solidFill>
                <a:latin typeface="Aptos"/>
              </a:rPr>
              <a:t>12 •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B17"/>
                </a:solidFill>
                <a:latin typeface="Aptos"/>
              </a:rPr>
              <a:t>Sources &amp;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35338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442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691E"/>
                </a:solidFill>
                <a:latin typeface="Aptos"/>
              </a:rPr>
              <a:t>Key sources used in the original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5338"/>
                </a:solidFill>
                <a:latin typeface="Aptos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6771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5751"/>
                </a:solidFill>
                <a:latin typeface="Aptos"/>
              </a:rPr>
              <a:t>World Health Organization (2025), Global traditional medicine strategy 2025–2034.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175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5338"/>
                </a:solidFill>
                <a:latin typeface="Aptos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5351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5751"/>
                </a:solidFill>
                <a:latin typeface="Aptos"/>
              </a:rPr>
              <a:t>Zimbabwe (1981), Traditional Medical Practitioners Act [Chapter 27:14].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03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5338"/>
                </a:solidFill>
                <a:latin typeface="Aptos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63931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5751"/>
                </a:solidFill>
                <a:latin typeface="Aptos"/>
              </a:rPr>
              <a:t>Zimbabwe (2009), Environmental Management Regulations on genetic resources and indigenous knowledge.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891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35338"/>
                </a:solidFill>
                <a:latin typeface="Aptos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32511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5751"/>
                </a:solidFill>
                <a:latin typeface="Aptos"/>
              </a:rPr>
              <a:t>Group 3 original concept: MitiLink name, interface, service model and enterprise proposal.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806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135338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